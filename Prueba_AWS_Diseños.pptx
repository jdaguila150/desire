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 HMI del Mañana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Transformando la Interacción Humana-Máquina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HMI: De Botones a la Intuición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6576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La verdadera revolución HMI no es crear botones más rápidos, sino eliminarlos por completo.</a:t>
            </a:r>
          </a:p>
        </p:txBody>
      </p:sp>
      <p:pic>
        <p:nvPicPr>
          <p:cNvPr id="5" name="Picture 4" descr="futuro_interaccion_humano_maquina_computacion_espacial_hologramas,_oscuro_ne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212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Visión Computarizada: Más Allá del Color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3840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Computadoras 'ven': píxeles a datos procesables.</a:t>
            </a:r>
          </a:p>
          <a:p>
            <a:pPr>
              <a:spcAft>
                <a:spcPts val="1400"/>
              </a:spcAft>
              <a:defRPr sz="2200"/>
            </a:pPr>
            <a:r>
              <a:t>Segmentación clásica por color, vulnerable a la luz.</a:t>
            </a:r>
          </a:p>
          <a:p>
            <a:pPr>
              <a:spcAft>
                <a:spcPts val="1400"/>
              </a:spcAft>
              <a:defRPr sz="2200"/>
            </a:pPr>
            <a:r>
              <a:t>Moderno: Enfocarse en topología, no en color.</a:t>
            </a:r>
          </a:p>
          <a:p>
            <a:pPr>
              <a:spcAft>
                <a:spcPts val="1400"/>
              </a:spcAft>
              <a:defRPr sz="2200"/>
            </a:pPr>
            <a:r>
              <a:t>Algoritmos entienden geometría y contornos.</a:t>
            </a:r>
          </a:p>
          <a:p>
            <a:pPr>
              <a:spcAft>
                <a:spcPts val="1400"/>
              </a:spcAft>
              <a:defRPr sz="2200"/>
            </a:pPr>
            <a:r>
              <a:t>Inmune a variaciones de iluminación ambiental.</a:t>
            </a:r>
          </a:p>
        </p:txBody>
      </p:sp>
      <p:pic>
        <p:nvPicPr>
          <p:cNvPr id="5" name="Picture 4" descr="ojo_robotico_procesando_datos_visuales,_algoritmo_de_contornos,_ciberpunk,_oscuro_ne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21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4846320"/>
            <a:ext cx="8229600" cy="13716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💡 La luz no es estática; rebota, refracta y altera la percepción constantemente, afectando el color.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K-NN: Entendiendo la Intención Humana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6576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A diferencia de redes neuronales, K-NN es eficiente y no requiere hardware especializado de alto costo.</a:t>
            </a:r>
          </a:p>
        </p:txBody>
      </p:sp>
      <p:pic>
        <p:nvPicPr>
          <p:cNvPr id="5" name="Picture 4" descr="visualizacion_algoritmo_k-nn_puntos_cercanos_en_espacio_multidimensional,_ciberseguridad,_neon_az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4865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RAG: LLMs Confiables y Sin Alucinaciones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/>
            </a:pPr>
            <a:r>
              <a:t>Voz humana: alto ancho de banda de información.</a:t>
            </a:r>
          </a:p>
          <a:p>
            <a:pPr>
              <a:spcAft>
                <a:spcPts val="1400"/>
              </a:spcAft>
              <a:defRPr sz="2200"/>
            </a:pPr>
            <a:r>
              <a:t>LLMs: reconocimiento de voz a comprensión profunda.</a:t>
            </a:r>
          </a:p>
          <a:p>
            <a:pPr>
              <a:spcAft>
                <a:spcPts val="1400"/>
              </a:spcAft>
              <a:defRPr sz="2200"/>
            </a:pPr>
            <a:r>
              <a:t>Problema crítico: los LLMs pueden alucinar.</a:t>
            </a:r>
          </a:p>
          <a:p>
            <a:pPr>
              <a:spcAft>
                <a:spcPts val="1400"/>
              </a:spcAft>
              <a:defRPr sz="2200"/>
            </a:pPr>
            <a:r>
              <a:t>RAG inyecta contexto verificado al 'prompt'.</a:t>
            </a:r>
          </a:p>
          <a:p>
            <a:pPr>
              <a:spcAft>
                <a:spcPts val="1400"/>
              </a:spcAft>
              <a:defRPr sz="2200"/>
            </a:pPr>
            <a:r>
              <a:t>Ancla la IA a una base de verdad documentada.</a:t>
            </a:r>
          </a:p>
          <a:p>
            <a:pPr>
              <a:spcAft>
                <a:spcPts val="1400"/>
              </a:spcAft>
              <a:defRPr sz="2200"/>
            </a:pPr>
            <a:r>
              <a:t>Genera datos precisos, con error cercano a cero.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846320"/>
            <a:ext cx="8229600" cy="13716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💡 La precisión de un sistema RAG es directamente proporcional a la calidad de la información contextual inyectada.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1E1E1E"/>
                </a:solidFill>
              </a:defRPr>
            </a:pPr>
            <a:r>
              <a:t>Multimodales: La Interacción del Futuro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36576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4400" b="1">
                <a:solidFill>
                  <a:srgbClr val="1E1E1E"/>
                </a:solidFill>
              </a:defRPr>
            </a:pPr>
            <a:r>
              <a:t>Estamos presenciando el fin de las presentaciones estáticas y el nacimiento de las narrativas generativas en tiempo real.</a:t>
            </a:r>
          </a:p>
        </p:txBody>
      </p:sp>
      <p:pic>
        <p:nvPicPr>
          <p:cNvPr id="5" name="Picture 4" descr="interaccion_multimodal_persona_controlando_hologramas_con_gestos_y_voz,_fondo_oscuro_futurista_ne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621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